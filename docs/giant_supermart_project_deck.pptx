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Revenue by Region (SGD)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(SGD)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0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Central</c:v>
                  </c:pt>
                  <c:pt idx="1">
                    <c:v>North-East</c:v>
                  </c:pt>
                  <c:pt idx="2">
                    <c:v>East</c:v>
                  </c:pt>
                  <c:pt idx="3">
                    <c:v>North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3063429</c:v>
                </c:pt>
                <c:pt idx="1">
                  <c:v>2248860</c:v>
                </c:pt>
                <c:pt idx="2">
                  <c:v>2103493</c:v>
                </c:pt>
                <c:pt idx="3">
                  <c:v>1979061</c:v>
                </c:pt>
                <c:pt idx="4">
                  <c:v>1666853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Avg Basket by GST Period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Basket (SGD)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Pre-GST9
7%</c:v>
                  </c:pt>
                  <c:pt idx="1">
                    <c:v>GST 8%
2023</c:v>
                  </c:pt>
                  <c:pt idx="2">
                    <c:v>GST 9%
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86.2</c:v>
                </c:pt>
                <c:pt idx="1">
                  <c:v>92.65</c:v>
                </c:pt>
                <c:pt idx="2">
                  <c:v>97.66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9B0020"/>
          </a:solidFill>
          <a:ln w="12700">
            <a:solidFill>
              <a:srgbClr val="9B0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GIANT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SUPERMART SINGAPORE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Engineering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Ingestion → Star Schema → ELT → Quality → Analysis →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3611880"/>
            <a:ext cx="9144000" cy="1234440"/>
          </a:xfrm>
          <a:prstGeom prst="rect">
            <a:avLst/>
          </a:prstGeom>
          <a:solidFill>
            <a:srgbClr val="700015"/>
          </a:solidFill>
          <a:ln w="12700">
            <a:solidFill>
              <a:srgbClr val="7000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01168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Regions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Categories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Years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2376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Project · Data Engineering · Singapore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Agenda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251960" cy="88696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77240"/>
            <a:ext cx="475488" cy="8869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777240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85039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112471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Giant Supermart need a data pipeline?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90872" y="777240"/>
            <a:ext cx="4251960" cy="88696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777240"/>
            <a:ext cx="475488" cy="8869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777240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57800" y="85039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Design Choices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57800" y="112471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Giant + dataset construction rationale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1783080"/>
            <a:ext cx="4251960" cy="88696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783080"/>
            <a:ext cx="475488" cy="8869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" y="1783080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185623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213055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end-to-end system design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90872" y="1783080"/>
            <a:ext cx="4251960" cy="88696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1783080"/>
            <a:ext cx="475488" cy="8869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783080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57800" y="185623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Design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213055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design &amp; justification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2788920"/>
            <a:ext cx="4251960" cy="88696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788920"/>
            <a:ext cx="475488" cy="8869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" y="2788920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2960" y="286207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313639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automated tests — 100% pass rate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90872" y="2788920"/>
            <a:ext cx="4251960" cy="88696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2788920"/>
            <a:ext cx="475488" cy="8869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2788920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257800" y="286207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313639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findings from Python analysis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3886200"/>
            <a:ext cx="8631936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8912" y="38862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Streamlit Dashboard — Live interactive business intelligence demo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4389120"/>
            <a:ext cx="8631936" cy="43891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8912" y="4389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· Recommendations — 3 data-driven actions with estimated ROI impact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Giant Supermart needs a data engineering pipeline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863193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8631936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State (Before Pipeline)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0789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Excel extraction from POS systems takes 2–3 days per week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25730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single source of truth — Finance, Marketing, and Operations use different numbers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43560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CDC voucher windows and GST changes not being measured for business impact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61391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Zero visibility into which stores, categories, and customer tiers drive profitability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17922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Seasonal inventory planning based on intuition, not 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176272"/>
            <a:ext cx="863193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76272"/>
            <a:ext cx="8631936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2311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 (After Pipeline)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2514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pipeline runs in under 60 seconds — 99.9% faster than manual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26883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 schema warehouse provides single source of truth for all business units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28620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CDC voucher basket lift measured: +12–15% — now predictable and actionable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0358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profitability matrix updated daily — Health &amp; Wellness 48% GP margin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20954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Seasonal stock signals built into the dashboard — data-driven inventory decisions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584448"/>
            <a:ext cx="8631936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 sec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Runtime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40280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24028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31920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3192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23560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2356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Tests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0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1520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Giant Supermart?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 rationale and Singapore-specific factors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251960" cy="128016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6400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813816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All-Class Retailer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087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serves families, elderly, professionals, tourists, and students — 6 distinct customer segments in one store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51960" cy="128016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749808"/>
            <a:ext cx="64008" cy="12801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813816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Singapore-Specific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9744" y="1051560"/>
            <a:ext cx="4087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vouchers (2022–2024), GST 7%→9% transition, CNY/Hari Raya/Deepavali seasonality — uniquely SG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749808"/>
            <a:ext cx="4251960" cy="128016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749808"/>
            <a:ext cx="6400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813816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Region Coverage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4904" y="1051560"/>
            <a:ext cx="4087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North · North-East · East · West — all Singapore planning regions with distinct demographics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90872" y="2139696"/>
            <a:ext cx="4251960" cy="128016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139696"/>
            <a:ext cx="64008" cy="1280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203704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Observable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9744" y="2441448"/>
            <a:ext cx="4087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vouchers create measurable 'natural experiments' in consumer behaviour — rare in any dataset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2139696"/>
            <a:ext cx="4251960" cy="128016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139696"/>
            <a:ext cx="64008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203704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Feature Set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" y="2441448"/>
            <a:ext cx="4087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columns: pricing, promotions, GST, loyalty tiers, tourist flags, hours — ready for SQL + ML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90872" y="2139696"/>
            <a:ext cx="4251960" cy="128016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139696"/>
            <a:ext cx="64008" cy="128016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203704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Scale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9744" y="2441448"/>
            <a:ext cx="4087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120,000 rows × 3 years — large enough for meaningful trends, small enough to run locally on SQLite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end-to-end data engineering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1207008" cy="3474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7772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" y="1261872"/>
            <a:ext cx="12070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" y="1874520"/>
            <a:ext cx="1207008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120K rows · 34 cols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435608" y="233172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777240"/>
            <a:ext cx="1207008" cy="347472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7772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1261872"/>
            <a:ext cx="12070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08760" y="1874520"/>
            <a:ext cx="1207008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 · pandas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15768" y="233172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777240"/>
            <a:ext cx="1207008" cy="3474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88920" y="7772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88920" y="1261872"/>
            <a:ext cx="12070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88920" y="1874520"/>
            <a:ext cx="1207008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DimDate/Store/Product/Customer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FactSales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995928" y="233172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777240"/>
            <a:ext cx="1207008" cy="3474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69080" y="7772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069080" y="1261872"/>
            <a:ext cx="12070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ELT TRANSFORMS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69080" y="1874520"/>
            <a:ext cx="1207008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 marts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76088" y="233172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777240"/>
            <a:ext cx="1207008" cy="3474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49240" y="7772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49240" y="1261872"/>
            <a:ext cx="12070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49240" y="1874520"/>
            <a:ext cx="1207008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tests · 100% pass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quality_checks.py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556248" y="233172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777240"/>
            <a:ext cx="1207008" cy="3474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29400" y="7772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29400" y="1261872"/>
            <a:ext cx="12070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+ DASHBOARD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629400" y="1874520"/>
            <a:ext cx="1207008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eda.py · Streamlit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28600" y="440740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407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691640" y="440740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4407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440740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4407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440740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4407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(DDL + DML)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80760" y="440740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4407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Tests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543800" y="440740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43800" y="4407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Streamlit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8600" y="4261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Stack: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Design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design and justification for analytical queries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194560" cy="2103120"/>
          </a:xfrm>
          <a:prstGeom prst="rect">
            <a:avLst/>
          </a:prstGeom>
          <a:solidFill>
            <a:srgbClr val="C8102E"/>
          </a:solidFill>
          <a:ln w="19050">
            <a:solidFill>
              <a:srgbClr val="8B0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737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02152" y="210312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(NK)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02152" y="226314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(FK)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02152" y="242316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 (FK)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258318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 (FK)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02152" y="274320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 (FK)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02152" y="290322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· unit_price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02152" y="306324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 · gst_rate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02152" y="322326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total_sgd (Main KPI)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502152" y="338328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gross_profit_sgd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502152" y="3543300"/>
            <a:ext cx="21396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is_promotion · flags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749808"/>
            <a:ext cx="2148840" cy="153619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749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DimDate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1069848"/>
            <a:ext cx="2148840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(PK)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quarter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· week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day_name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23160" y="1517904"/>
            <a:ext cx="105156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675120" y="749808"/>
            <a:ext cx="2148840" cy="1536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749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DimStore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75120" y="1069848"/>
            <a:ext cx="2148840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 (PK)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store_name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region_code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store_size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is_tourist_area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69280" y="1517904"/>
            <a:ext cx="1005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74320" y="3063240"/>
            <a:ext cx="2148840" cy="15361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DimProduct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3383280"/>
            <a:ext cx="2148840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 (PK)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cat_group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base_gp_margin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is_fresh_item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23160" y="2499179"/>
            <a:ext cx="105156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675120" y="3063240"/>
            <a:ext cx="2148840" cy="153619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751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DimCustomer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3383280"/>
            <a:ext cx="2148840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 (PK)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member_tier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tier_rank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has_membership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669280" y="2732654"/>
            <a:ext cx="1005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56032" y="477316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 Schema? Fewer JOINs = faster analytics · Industry standard (BigQuery/Snowflake) · Business-friendly structure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— 26 Tests, 100% Pass Rate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pipeline ensuring trustworthy data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251960" cy="123444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425196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412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NULL Checks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84124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113385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fields: transaction_id, date_key, store_key, product_key, customer_key, total_sgd, quantity, payment_method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90872" y="749808"/>
            <a:ext cx="4251960" cy="123444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749808"/>
            <a:ext cx="4251960" cy="64008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8412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Duplicate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36992" y="84124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82312" y="113385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IDs, DimStore rows, DimProduct rows — zero duplicates allowed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2075688"/>
            <a:ext cx="4251960" cy="123444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075688"/>
            <a:ext cx="42519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1671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📏 Range 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02152" y="216712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245973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&gt; 0, quantity ≥ 1, discount ∈ [0,1], GST ∈ {7%,8%,9%}, dates 2022–2024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90872" y="2075688"/>
            <a:ext cx="4251960" cy="123444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2075688"/>
            <a:ext cx="42519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21671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Referential Integrity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36992" y="216712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82312" y="245973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FK in FactSales must exist in its Dimension table — zero orphans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3401568"/>
            <a:ext cx="4251960" cy="123444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401568"/>
            <a:ext cx="4251960" cy="6400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Business Logic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02152" y="349300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3493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3785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subtotal + GST · promo flag matches promo_type · discounted ≤ original price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90872" y="3401568"/>
            <a:ext cx="4251960" cy="123444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401568"/>
            <a:ext cx="42519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Distribution Checks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36992" y="3493008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3493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2312" y="3785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regions present · all 3 years covered · minimum 500 txns/month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4709160"/>
            <a:ext cx="8631936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6032" y="4709160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RESULT: 26/26 Tests Passed · Quality Score: 100% · Zero data issues found · Data is production-ready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Business Insights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data-driven findings from Python analysis (pandas + NumPy)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56032" y="749808"/>
          <a:ext cx="420624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4681728" y="749808"/>
          <a:ext cx="420624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56032" y="3090672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" y="3090672"/>
            <a:ext cx="2084832" cy="594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" y="31821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9184" y="341985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+8.1% · 2024: +5.3% revenue growth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414016" y="3090672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14016" y="3090672"/>
            <a:ext cx="2084832" cy="594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87168" y="31821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Region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487168" y="341985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= 27.7% of total revenue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572000" y="3090672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3090672"/>
            <a:ext cx="2084832" cy="59436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45152" y="31821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 Vouchers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645152" y="341985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+12–15% basket lift during voucher windows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729984" y="3090672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729984" y="3090672"/>
            <a:ext cx="2084832" cy="594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03136" y="318211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Margin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803136" y="341985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 at ~48% GP margin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256032" y="4023360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256032" y="4023360"/>
            <a:ext cx="2084832" cy="5943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9184" y="41148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29184" y="4352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spends 2.1× vs Non-Members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2414016" y="4023360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2414016" y="4023360"/>
            <a:ext cx="2084832" cy="594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487168" y="41148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Hour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487168" y="4352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Weekday: 12pm · Weekend: 11am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572000" y="4023360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572000" y="4023360"/>
            <a:ext cx="2084832" cy="5943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645152" y="41148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GST Impact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645152" y="4352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+13.3% basket growth Pre-GST9 → GST9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6729984" y="4023360"/>
            <a:ext cx="2084832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729984" y="4023360"/>
            <a:ext cx="2084832" cy="59436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803136" y="41148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Weekend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803136" y="4352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40 avg basket premium on weekends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Business Recommendations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highest-impact actions for Giant Supermart leadership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SG · Data Engineering Pipeline · Module 2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0" y="4937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8631936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749808" cy="1261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749808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" y="1371600"/>
            <a:ext cx="74980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8992" y="8046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 Voucher Pre-Stock 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10972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Voucher windows create 12–15% basket lift — currently underserved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" y="13258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Pre-stock Fresh Produce and Meat 2 weeks before each CDC window. Train staff to upsell premium items.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76288" y="932688"/>
            <a:ext cx="1938528" cy="868680"/>
          </a:xfrm>
          <a:prstGeom prst="rect">
            <a:avLst/>
          </a:prstGeom>
          <a:solidFill>
            <a:srgbClr val="C8102E">
              <a:alpha val="12000"/>
            </a:srgbClr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932688"/>
            <a:ext cx="1938528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+SGD 120K per voucher cycle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148840"/>
            <a:ext cx="8631936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148840"/>
            <a:ext cx="749808" cy="12618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4884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" y="2770632"/>
            <a:ext cx="74980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78992" y="22037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Tier Upgrade Campaign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249631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Platinum members spend 2.1× more. Silver→Gold gap is the most convertible segment.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27249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Launch 'Giant VIP' tier. Double-point weekend campaign targeting Silver→Gold upgrade.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76288" y="2331720"/>
            <a:ext cx="1938528" cy="868680"/>
          </a:xfrm>
          <a:prstGeom prst="rect">
            <a:avLst/>
          </a:prstGeom>
          <a:solidFill>
            <a:srgbClr val="007B8A">
              <a:alpha val="12000"/>
            </a:srgbClr>
          </a:solidFill>
          <a:ln w="10160">
            <a:solidFill>
              <a:srgbClr val="007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2331720"/>
            <a:ext cx="1938528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+SGD 85K annual incremental revenue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547872"/>
            <a:ext cx="8631936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47872"/>
            <a:ext cx="749808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547872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56032" y="4169664"/>
            <a:ext cx="74980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💚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78992" y="36027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Wellness Category Expansion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389534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H&amp;W has 48% GP margin vs 18% for Rice &amp; Grains. Under-represented in current store layout.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" y="41239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Expand H&amp;W shelf space by 15% in Central and East stores. Introduce premium wellness aisles.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76288" y="3730752"/>
            <a:ext cx="1938528" cy="868680"/>
          </a:xfrm>
          <a:prstGeom prst="rect">
            <a:avLst/>
          </a:prstGeom>
          <a:solidFill>
            <a:srgbClr val="2E7D32">
              <a:alpha val="12000"/>
            </a:srgbClr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3730752"/>
            <a:ext cx="1938528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+2.5% overall GP margin improvement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12618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Supermart Singapore — Data Engineering Pipeline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3337560"/>
            <a:ext cx="9144000" cy="1572768"/>
          </a:xfrm>
          <a:prstGeom prst="rect">
            <a:avLst/>
          </a:prstGeom>
          <a:solidFill>
            <a:srgbClr val="700015"/>
          </a:solidFill>
          <a:ln w="12700">
            <a:solidFill>
              <a:srgbClr val="7000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3767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SQLite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seconds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01368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01368" y="3767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dims + 1 fact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36976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36976" y="3767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 marts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72584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72584" y="3767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 tests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score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08192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08192" y="3767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findings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543800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43800" y="3767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Data Engineering · Singapore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Giant Supermart Singapore — Data Engineering Project</dc:title>
  <dc:subject>PptxGenJS Presentation</dc:subject>
  <dc:creator>PptxGenJS</dc:creator>
  <cp:lastModifiedBy>PptxGenJS</cp:lastModifiedBy>
  <cp:revision>1</cp:revision>
  <dcterms:created xsi:type="dcterms:W3CDTF">2026-03-11T15:02:46Z</dcterms:created>
  <dcterms:modified xsi:type="dcterms:W3CDTF">2026-03-11T15:02:46Z</dcterms:modified>
</cp:coreProperties>
</file>